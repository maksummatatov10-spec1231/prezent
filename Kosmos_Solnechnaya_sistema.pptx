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23360" y="1920240"/>
            <a:ext cx="7772400" cy="3108960"/>
          </a:xfrm>
          <a:prstGeom prst="roundRect">
            <a:avLst/>
          </a:prstGeom>
          <a:solidFill>
            <a:srgbClr val="050814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20840" y="2331720"/>
            <a:ext cx="2377440" cy="635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468880"/>
            <a:ext cx="7406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КОСМОС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794760"/>
            <a:ext cx="7406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7FD4FF"/>
                </a:solidFill>
                <a:latin typeface="Calibri"/>
              </a:rPr>
              <a:t>Путешествие по Солнечной системе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526280"/>
            <a:ext cx="7406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CFD8E3"/>
                </a:solidFill>
                <a:latin typeface="Calibri"/>
              </a:rPr>
              <a:t>интерактивная презентация •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dur="700" fill="hold" nodeType="after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dur="800" fill="hold" nodeType="after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dur="700" fill="hold" nodeType="after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dur="8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4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nebu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640080"/>
            <a:ext cx="6309360" cy="5577840"/>
          </a:xfrm>
          <a:prstGeom prst="roundRect">
            <a:avLst/>
          </a:prstGeom>
          <a:solidFill>
            <a:srgbClr val="05081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5577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1965960"/>
            <a:ext cx="566928" cy="566928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2"/>
            <a:ext cx="566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00A0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Солнце — наша звезда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752344"/>
            <a:ext cx="566928" cy="566928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71216"/>
            <a:ext cx="566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00A00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4378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Планеты земной группы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538728"/>
            <a:ext cx="566928" cy="566928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566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00A00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301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Гиганты: Юпитер и Сатурн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4325112"/>
            <a:ext cx="566928" cy="566928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43984"/>
            <a:ext cx="566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00A00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165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Ледяные миры на краю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5111496"/>
            <a:ext cx="566928" cy="566928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30368"/>
            <a:ext cx="566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00A00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0293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Удивительные факты о системе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7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5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2" dur="500" fill="hold" nodeType="click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"/>
                            </p:stCondLst>
                            <p:childTnLst>
                              <p:par>
                                <p:cTn id="26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"/>
                            </p:stCondLst>
                            <p:childTnLst>
                              <p:par>
                                <p:cTn id="31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8" dur="500" fill="hold" nodeType="click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"/>
                            </p:stCondLst>
                            <p:childTnLst>
                              <p:par>
                                <p:cTn id="42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"/>
                            </p:stCondLst>
                            <p:childTnLst>
                              <p:par>
                                <p:cTn id="47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4" dur="500" fill="hold" nodeType="click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"/>
                            </p:stCondLst>
                            <p:childTnLst>
                              <p:par>
                                <p:cTn id="58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3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0" dur="500" fill="hold" nodeType="click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"/>
                            </p:stCondLst>
                            <p:childTnLst>
                              <p:par>
                                <p:cTn id="74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"/>
                            </p:stCondLst>
                            <p:childTnLst>
                              <p:par>
                                <p:cTn id="79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6" dur="500" fill="hold" nodeType="click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"/>
                            </p:stCondLst>
                            <p:childTnLst>
                              <p:par>
                                <p:cTn id="90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77240"/>
            <a:ext cx="5577840" cy="5394960"/>
          </a:xfrm>
          <a:prstGeom prst="roundRect">
            <a:avLst/>
          </a:prstGeom>
          <a:solidFill>
            <a:srgbClr val="05081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Солнце — наша звезда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7FD4FF"/>
                </a:solidFill>
                <a:latin typeface="Calibri"/>
              </a:rPr>
              <a:t>жёлтый карлик, сердце Солнечной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377440"/>
            <a:ext cx="1554480" cy="508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99,86 % всей массы Солнечной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1188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Температура ядра — около 15 000 000 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Каждую секунду сгорает 4 млн тонн вещества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6" dur="700" fill="hold" nodeType="after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dur="6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dur="5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8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"/>
                            </p:stCondLst>
                            <p:childTnLst>
                              <p:par>
                                <p:cTn id="33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"/>
                            </p:stCondLst>
                            <p:childTnLst>
                              <p:par>
                                <p:cTn id="42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6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"/>
                            </p:stCondLst>
                            <p:childTnLst>
                              <p:par>
                                <p:cTn id="51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77240"/>
            <a:ext cx="5577840" cy="5394960"/>
          </a:xfrm>
          <a:prstGeom prst="roundRect">
            <a:avLst/>
          </a:prstGeom>
          <a:solidFill>
            <a:srgbClr val="05081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Земля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7FD4FF"/>
                </a:solidFill>
                <a:latin typeface="Calibri"/>
              </a:rPr>
              <a:t>третья планета от Солнца, наш дом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377440"/>
            <a:ext cx="1554480" cy="508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Диаметр — 12 742 км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1188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71 % поверхности покрыто океанами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Единственный известный мир с жизнью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6" dur="700" fill="hold" nodeType="after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dur="6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dur="5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8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"/>
                            </p:stCondLst>
                            <p:childTnLst>
                              <p:par>
                                <p:cTn id="33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"/>
                            </p:stCondLst>
                            <p:childTnLst>
                              <p:par>
                                <p:cTn id="42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6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"/>
                            </p:stCondLst>
                            <p:childTnLst>
                              <p:par>
                                <p:cTn id="51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77240"/>
            <a:ext cx="5577840" cy="5394960"/>
          </a:xfrm>
          <a:prstGeom prst="roundRect">
            <a:avLst/>
          </a:prstGeom>
          <a:solidFill>
            <a:srgbClr val="05081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Марс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7FD4FF"/>
                </a:solidFill>
                <a:latin typeface="Calibri"/>
              </a:rPr>
              <a:t>красная планета, цель первых экспедиций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377440"/>
            <a:ext cx="1554480" cy="508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Вулкан Олимп — высота 21 км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1188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Сутки почти как земные: 24 ч 37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Два спутника — Фобос и Деймос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6" dur="700" fill="hold" nodeType="afterEffect" grpId="0" presetID="2" presetClass="entr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dur="6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dur="5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8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"/>
                            </p:stCondLst>
                            <p:childTnLst>
                              <p:par>
                                <p:cTn id="33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"/>
                            </p:stCondLst>
                            <p:childTnLst>
                              <p:par>
                                <p:cTn id="42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6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"/>
                            </p:stCondLst>
                            <p:childTnLst>
                              <p:par>
                                <p:cTn id="51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upi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77240"/>
            <a:ext cx="5577840" cy="5394960"/>
          </a:xfrm>
          <a:prstGeom prst="roundRect">
            <a:avLst/>
          </a:prstGeom>
          <a:solidFill>
            <a:srgbClr val="05081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Юпитер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7FD4FF"/>
                </a:solidFill>
                <a:latin typeface="Calibri"/>
              </a:rPr>
              <a:t>гигант, больший всех планет вместе взятых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377440"/>
            <a:ext cx="1554480" cy="508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В 11 раз шире Земли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1188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Красное Пятно — шторм крупнее Земли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Почти 100 собственных спутников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6" dur="700" fill="hold" nodeType="after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dur="6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dur="5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8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"/>
                            </p:stCondLst>
                            <p:childTnLst>
                              <p:par>
                                <p:cTn id="33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"/>
                            </p:stCondLst>
                            <p:childTnLst>
                              <p:par>
                                <p:cTn id="42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6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"/>
                            </p:stCondLst>
                            <p:childTnLst>
                              <p:par>
                                <p:cTn id="51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tu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77240"/>
            <a:ext cx="5577840" cy="5394960"/>
          </a:xfrm>
          <a:prstGeom prst="roundRect">
            <a:avLst/>
          </a:prstGeom>
          <a:solidFill>
            <a:srgbClr val="05081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Сатурн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7FD4FF"/>
                </a:solidFill>
                <a:latin typeface="Calibri"/>
              </a:rPr>
              <a:t>властелин колец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377440"/>
            <a:ext cx="1554480" cy="508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Кольца из льда и камня — 282 000 км в ширину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1188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Плотность меньше воды — он бы всплыл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Титан — спутник с плотной атмосферой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  <p:transition spd="med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6" dur="700" fill="hold" nodeType="after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dur="6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dur="5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8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"/>
                            </p:stCondLst>
                            <p:childTnLst>
                              <p:par>
                                <p:cTn id="33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"/>
                            </p:stCondLst>
                            <p:childTnLst>
                              <p:par>
                                <p:cTn id="42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6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"/>
                            </p:stCondLst>
                            <p:childTnLst>
                              <p:par>
                                <p:cTn id="51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ptu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777240"/>
            <a:ext cx="5577840" cy="5394960"/>
          </a:xfrm>
          <a:prstGeom prst="roundRect">
            <a:avLst/>
          </a:prstGeom>
          <a:solidFill>
            <a:srgbClr val="05081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Уран и Нептун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7FD4FF"/>
                </a:solidFill>
                <a:latin typeface="Calibri"/>
              </a:rPr>
              <a:t>ледяные гиганты на краю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377440"/>
            <a:ext cx="1554480" cy="5080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Ветра Нептуна — до 2 100 км/ч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1188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Год Нептуна = 165 земных лет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B347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4572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Уран вращается, лёжа «на боку»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6" dur="700" fill="hold" nodeType="afterEffect" grpId="0" presetID="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dur="6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4" dur="500" fill="hold" nodeType="afterEffect" grpId="0" presetID="22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8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"/>
                            </p:stCondLst>
                            <p:childTnLst>
                              <p:par>
                                <p:cTn id="33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"/>
                            </p:stCondLst>
                            <p:childTnLst>
                              <p:par>
                                <p:cTn id="42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6" dur="400" fill="hold" nodeType="click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"/>
                            </p:stCondLst>
                            <p:childTnLst>
                              <p:par>
                                <p:cTn id="51" dur="600" fill="hold" nodeType="withEffect" grpId="0" presetID="2" presetClass="entr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nebu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48640"/>
            <a:ext cx="11274552" cy="5669280"/>
          </a:xfrm>
          <a:prstGeom prst="roundRect">
            <a:avLst/>
          </a:prstGeom>
          <a:solidFill>
            <a:srgbClr val="05081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Семья Солнца: восемь планет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3063240"/>
            <a:ext cx="1234440" cy="1234440"/>
          </a:xfrm>
          <a:prstGeom prst="ellipse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89204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Солнце</a:t>
            </a:r>
          </a:p>
        </p:txBody>
      </p:sp>
      <p:sp>
        <p:nvSpPr>
          <p:cNvPr id="7" name="Oval 6"/>
          <p:cNvSpPr/>
          <p:nvPr/>
        </p:nvSpPr>
        <p:spPr>
          <a:xfrm>
            <a:off x="2240280" y="3488436"/>
            <a:ext cx="384048" cy="384048"/>
          </a:xfrm>
          <a:prstGeom prst="ellipse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4892040"/>
            <a:ext cx="10241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Меркурий</a:t>
            </a:r>
          </a:p>
        </p:txBody>
      </p:sp>
      <p:sp>
        <p:nvSpPr>
          <p:cNvPr id="9" name="Oval 8"/>
          <p:cNvSpPr/>
          <p:nvPr/>
        </p:nvSpPr>
        <p:spPr>
          <a:xfrm>
            <a:off x="3246120" y="3396996"/>
            <a:ext cx="566928" cy="566928"/>
          </a:xfrm>
          <a:prstGeom prst="ellipse">
            <a:avLst/>
          </a:prstGeom>
          <a:solidFill>
            <a:srgbClr val="E8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4892040"/>
            <a:ext cx="12070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Венера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3378708"/>
            <a:ext cx="603504" cy="60350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4892040"/>
            <a:ext cx="1243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Земля</a:t>
            </a:r>
          </a:p>
        </p:txBody>
      </p:sp>
      <p:sp>
        <p:nvSpPr>
          <p:cNvPr id="13" name="Oval 12"/>
          <p:cNvSpPr/>
          <p:nvPr/>
        </p:nvSpPr>
        <p:spPr>
          <a:xfrm>
            <a:off x="5440680" y="3451860"/>
            <a:ext cx="457200" cy="457200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892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Марс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154680"/>
            <a:ext cx="1051560" cy="1051560"/>
          </a:xfrm>
          <a:prstGeom prst="ellipse">
            <a:avLst/>
          </a:prstGeom>
          <a:solidFill>
            <a:srgbClr val="C88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892040"/>
            <a:ext cx="1691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Юпитер</a:t>
            </a:r>
          </a:p>
        </p:txBody>
      </p:sp>
      <p:sp>
        <p:nvSpPr>
          <p:cNvPr id="17" name="Oval 16"/>
          <p:cNvSpPr/>
          <p:nvPr/>
        </p:nvSpPr>
        <p:spPr>
          <a:xfrm>
            <a:off x="8001000" y="3223260"/>
            <a:ext cx="914400" cy="914400"/>
          </a:xfrm>
          <a:prstGeom prst="ellipse">
            <a:avLst/>
          </a:prstGeom>
          <a:solidFill>
            <a:srgbClr val="E3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8920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Сатурн</a:t>
            </a:r>
          </a:p>
        </p:txBody>
      </p:sp>
      <p:sp>
        <p:nvSpPr>
          <p:cNvPr id="19" name="Oval 18"/>
          <p:cNvSpPr/>
          <p:nvPr/>
        </p:nvSpPr>
        <p:spPr>
          <a:xfrm>
            <a:off x="9555480" y="3323844"/>
            <a:ext cx="713232" cy="713232"/>
          </a:xfrm>
          <a:prstGeom prst="ellipse">
            <a:avLst/>
          </a:prstGeom>
          <a:solidFill>
            <a:srgbClr val="7F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892040"/>
            <a:ext cx="1353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Уран</a:t>
            </a:r>
          </a:p>
        </p:txBody>
      </p:sp>
      <p:sp>
        <p:nvSpPr>
          <p:cNvPr id="21" name="Oval 20"/>
          <p:cNvSpPr/>
          <p:nvPr/>
        </p:nvSpPr>
        <p:spPr>
          <a:xfrm>
            <a:off x="10744200" y="3337560"/>
            <a:ext cx="685800" cy="685800"/>
          </a:xfrm>
          <a:prstGeom prst="ellipse">
            <a:avLst/>
          </a:prstGeom>
          <a:solidFill>
            <a:srgbClr val="3E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489204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Нептун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  <p:transition spd="med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"/>
                            </p:stCondLst>
                            <p:childTnLst>
                              <p:par>
                                <p:cTn id="16" dur="700" fill="hold" nodeType="afterEffect" grpId="0" presetID="2" presetClass="entr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5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50"/>
                            </p:stCondLst>
                            <p:childTnLst>
                              <p:par>
                                <p:cTn id="49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50"/>
                            </p:stCondLst>
                            <p:childTnLst>
                              <p:par>
                                <p:cTn id="60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00"/>
                            </p:stCondLst>
                            <p:childTnLst>
                              <p:par>
                                <p:cTn id="67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950"/>
                            </p:stCondLst>
                            <p:childTnLst>
                              <p:par>
                                <p:cTn id="71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00"/>
                            </p:stCondLst>
                            <p:childTnLst>
                              <p:par>
                                <p:cTn id="78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250"/>
                            </p:stCondLst>
                            <p:childTnLst>
                              <p:par>
                                <p:cTn id="82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400"/>
                            </p:stCondLst>
                            <p:childTnLst>
                              <p:par>
                                <p:cTn id="89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50"/>
                            </p:stCondLst>
                            <p:childTnLst>
                              <p:par>
                                <p:cTn id="93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700"/>
                            </p:stCondLst>
                            <p:childTnLst>
                              <p:par>
                                <p:cTn id="100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850"/>
                            </p:stCondLst>
                            <p:childTnLst>
                              <p:par>
                                <p:cTn id="104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dur="450" fill="hold" nodeType="with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150"/>
                            </p:stCondLst>
                            <p:childTnLst>
                              <p:par>
                                <p:cTn id="115" dur="4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8" dur="2500" fill="hold" nodeType="withEffect" grpId="0" presetID="8" presetClass="emph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7" dur="2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lkyw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Удивительные факты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828800"/>
          </a:xfrm>
          <a:prstGeom prst="roundRect">
            <a:avLst/>
          </a:prstGeom>
          <a:solidFill>
            <a:srgbClr val="05081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B347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05740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День на Венере длится дольше, чем её год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45920"/>
            <a:ext cx="5257800" cy="1828800"/>
          </a:xfrm>
          <a:prstGeom prst="roundRect">
            <a:avLst/>
          </a:prstGeom>
          <a:solidFill>
            <a:srgbClr val="05081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B347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5740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На Марсе закаты голубого цвета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257800" cy="1828800"/>
          </a:xfrm>
          <a:prstGeom prst="roundRect">
            <a:avLst/>
          </a:prstGeom>
          <a:solidFill>
            <a:srgbClr val="05081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B347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20624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Свет Солнца летит до Земли 8 минут 19 секунд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794760"/>
            <a:ext cx="5257800" cy="1828800"/>
          </a:xfrm>
          <a:prstGeom prst="roundRect">
            <a:avLst/>
          </a:prstGeom>
          <a:solidFill>
            <a:srgbClr val="05081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1148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B347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20624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У планет Солнечной системы более 400 спутников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720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CFD8E3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700" fill="hold" nodeType="afterEffect" grpId="0" presetID="2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8" dur="700" fill="hold" nodeType="click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"/>
                            </p:stCondLst>
                            <p:childTnLst>
                              <p:par>
                                <p:cTn id="22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dur="600" fill="hold" nodeType="with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2" dur="700" fill="hold" nodeType="click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"/>
                            </p:stCondLst>
                            <p:childTnLst>
                              <p:par>
                                <p:cTn id="36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dur="600" fill="hold" nodeType="with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5" dur="700" fill="hold" nodeType="clickEffect" grpId="0" presetID="21" presetClass="entr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"/>
                            </p:stCondLst>
                            <p:childTnLst>
                              <p:par>
                                <p:cTn id="49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4" dur="600" fill="hold" nodeType="with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8" dur="700" fill="hold" nodeType="clickEffect" grpId="0" presetID="18" presetClass="entr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"/>
                            </p:stCondLst>
                            <p:childTnLst>
                              <p:par>
                                <p:cTn id="62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dur="600" fill="hold" nodeType="with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trona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34640" y="1371600"/>
            <a:ext cx="6492240" cy="2926080"/>
          </a:xfrm>
          <a:prstGeom prst="roundRect">
            <a:avLst/>
          </a:prstGeom>
          <a:solidFill>
            <a:srgbClr val="050814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155448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0" i="0">
                <a:solidFill>
                  <a:srgbClr val="FFB347"/>
                </a:solidFill>
                <a:latin typeface="Calibri"/>
              </a:rP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286000"/>
            <a:ext cx="6126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291840"/>
            <a:ext cx="6126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7FD4FF"/>
                </a:solidFill>
                <a:latin typeface="Calibri"/>
              </a:rPr>
              <a:t>Космос ближе, чем кажется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88620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FD8E3"/>
                </a:solidFill>
                <a:latin typeface="Calibri"/>
              </a:rPr>
              <a:t>F5 — начать показ • Esc — выйти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7" dur="12000" fill="hold" nodeType="withEffect" grpId="0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7/6*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/1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/1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1" dur="500" fill="hold" nodeType="with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"/>
                            </p:stCondLst>
                            <p:childTnLst>
                              <p:par>
                                <p:cTn id="18" dur="600" fill="hold" nodeType="after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dur="800" fill="hold" nodeType="afterEffect" grpId="0" presetID="23" presetClass="entr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0" dur="700" fill="hold" nodeType="afterEffect" grpId="0" presetID="2" presetClass="entr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dur="700" fill="hold" nodeType="afterEffect" grpId="0" presetID="9" presetClass="entr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300"/>
                            </p:stCondLst>
                            <p:childTnLst>
                              <p:par>
                                <p:cTn id="37" dur="3000" fill="hold" nodeType="withEffect" grpId="0" presetID="8" presetClass="emph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Космос: путешествие по Солнечной системе</dc:title>
  <dc:subject/>
  <dc:creator>Arena.ai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