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ist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560" y="1417320"/>
            <a:ext cx="6583680" cy="3686861"/>
          </a:xfrm>
          <a:prstGeom prst="rect">
            <a:avLst/>
          </a:prstGeom>
          <a:ln w="31750">
            <a:solidFill>
              <a:srgbClr val="C9A227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40080" y="1463040"/>
            <a:ext cx="5486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600" b="1" i="0">
                <a:solidFill>
                  <a:srgbClr val="23262B"/>
                </a:solidFill>
                <a:latin typeface="Calibri"/>
              </a:rPr>
              <a:t>Коста</a:t>
            </a:r>
          </a:p>
          <a:p>
            <a:pPr algn="l"/>
            <a:r>
              <a:rPr sz="6600" b="1" i="0">
                <a:solidFill>
                  <a:srgbClr val="23262B"/>
                </a:solidFill>
                <a:latin typeface="Calibri"/>
              </a:rPr>
              <a:t>Хетагуров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703320"/>
            <a:ext cx="2011680" cy="50800"/>
          </a:xfrm>
          <a:prstGeom prst="rect">
            <a:avLst/>
          </a:prstGeom>
          <a:solidFill>
            <a:srgbClr val="A6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A63A2B"/>
                </a:solidFill>
                <a:latin typeface="Calibri"/>
              </a:rPr>
              <a:t>1859 — 1906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56692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3262B"/>
                </a:solidFill>
                <a:latin typeface="Calibri"/>
              </a:rPr>
              <a:t>основоположник осетинской литературы</a:t>
            </a:r>
          </a:p>
          <a:p>
            <a:pPr algn="l"/>
            <a:r>
              <a:rPr sz="1600" b="0" i="0">
                <a:solidFill>
                  <a:srgbClr val="23262B"/>
                </a:solidFill>
                <a:latin typeface="Calibri"/>
              </a:rPr>
              <a:t>и осетинского литературного языка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8A8578"/>
                </a:solidFill>
                <a:latin typeface="Calibri"/>
              </a:rPr>
              <a:t>поэт • художник • публицист • этнограф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9" dur="9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"/>
                            </p:stCondLst>
                            <p:childTnLst>
                              <p:par>
                                <p:cTn id="14" dur="700" fill="hold" nodeType="afterEffect" grpId="0" presetID="2" presetClass="entr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18" dur="5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100"/>
                            </p:stCondLst>
                            <p:childTnLst>
                              <p:par>
                                <p:cTn id="22" dur="6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400"/>
                            </p:stCondLst>
                            <p:childTnLst>
                              <p:par>
                                <p:cTn id="26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osta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005840"/>
            <a:ext cx="3273673" cy="484632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5486400" y="1554480"/>
            <a:ext cx="6035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Коста Леванович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Хетагуров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3108960"/>
            <a:ext cx="6035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8CEBE"/>
                </a:solidFill>
                <a:latin typeface="Calibri"/>
              </a:rPr>
              <a:t>Родился 15 октября 1859 года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D8CEBE"/>
                </a:solidFill>
                <a:latin typeface="Calibri"/>
              </a:rPr>
              <a:t>в горном ауле Нар.</a:t>
            </a:r>
          </a:p>
          <a:p>
            <a:pPr algn="l"/>
            <a:r>
              <a:rPr sz="1600" b="0" i="0">
                <a:solidFill>
                  <a:srgbClr val="D8CEBE"/>
                </a:solidFill>
                <a:latin typeface="Calibri"/>
              </a:rPr>
              <a:t>Учился живописи в Петербургской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D8CEBE"/>
                </a:solidFill>
                <a:latin typeface="Calibri"/>
              </a:rPr>
              <a:t>академии художеств.</a:t>
            </a:r>
          </a:p>
          <a:p>
            <a:pPr algn="l"/>
            <a:r>
              <a:rPr sz="1600" b="0" i="0">
                <a:solidFill>
                  <a:srgbClr val="D8CEBE"/>
                </a:solidFill>
                <a:latin typeface="Calibri"/>
              </a:rPr>
              <a:t>Подарил осетинскому народу</a:t>
            </a:r>
          </a:p>
          <a:p>
            <a:pPr algn="l"/>
            <a:r>
              <a:rPr sz="1600" b="0" i="0">
                <a:solidFill>
                  <a:srgbClr val="D8CEBE"/>
                </a:solidFill>
                <a:latin typeface="Calibri"/>
              </a:rPr>
              <a:t>литературный язык и поэзию.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02 / 15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9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100"/>
                            </p:stCondLst>
                            <p:childTnLst>
                              <p:par>
                                <p:cTn id="18" dur="8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rt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6582" y="0"/>
            <a:ext cx="13625165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Аул Нар — колыбель поэта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Здесь 15 октября 1859 года в семье офицера русской армии родился Коста.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Горы Мамисонского ущелья стали главной темой его стихов и картин.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4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9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r_vill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07258"/>
            <a:ext cx="12192000" cy="7472516"/>
          </a:xfrm>
          <a:prstGeom prst="rect">
            <a:avLst/>
          </a:prstGeom>
          <a:effectLst/>
        </p:spPr>
      </p:pic>
      <p:pic>
        <p:nvPicPr>
          <p:cNvPr id="3" name="Picture 2" descr="nar_interi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548640"/>
            <a:ext cx="3840480" cy="288036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Село Нар — родина поэта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Здесь 15 октября 1859 года родился Коста; ныне — мемориальный дом-музей.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Каменные стены, очаг и утварь горцев хранят память о его детстве.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4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9" dur="900" fill="hold" nodeType="afterEffect" grpId="0" presetID="22" presetClass="entr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dur="700" fill="hold" nodeType="afterEffect" grpId="0" presetID="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oto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937760" cy="2666390"/>
          </a:xfrm>
          <a:prstGeom prst="rect">
            <a:avLst/>
          </a:prstGeom>
          <a:ln w="31750">
            <a:solidFill>
              <a:srgbClr val="C9A227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822960" y="137160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Дорога к искусству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54864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Владикавказская прогимназия и Ставропольская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гимназия — здесь открылся дар к слову и кисти.</a:t>
            </a:r>
          </a:p>
          <a:p>
            <a:pPr algn="l"/>
            <a:r>
              <a:rPr sz="1500" b="0" i="0">
                <a:solidFill>
                  <a:srgbClr val="C9A227"/>
                </a:solidFill>
                <a:latin typeface="Calibri"/>
              </a:rPr>
              <a:t>Петербургская академия художеств, 1881 —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C9A227"/>
                </a:solidFill>
                <a:latin typeface="Calibri"/>
              </a:rPr>
              <a:t>мечта о живописи стала делом жизни.</a:t>
            </a:r>
          </a:p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Из-за бедности покинул академию, но вернул</a:t>
            </a:r>
          </a:p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живопись в Осетию: портрет, пейзаж, фреска.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05 / 15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dur="700" fill="hold" nodeType="afterEffect" grpId="0" presetID="2" presetClass="entr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dur="900" fill="hold" nodeType="afterEffect" grpId="0" presetID="22" presetClass="entr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18" dur="9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480560" y="1828800"/>
            <a:ext cx="320040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6015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800" b="1" i="0">
                <a:solidFill>
                  <a:srgbClr val="C9A227"/>
                </a:solidFill>
                <a:latin typeface="Calibri"/>
              </a:rPr>
              <a:t>«Ирон фæндыр»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«Осетинская лира», 1899 — первый сборник осетинской поэзии,</a:t>
            </a:r>
          </a:p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с него начинается осетинская литература и литературный язык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457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8A8578"/>
                </a:solidFill>
                <a:latin typeface="Calibri"/>
              </a:rPr>
              <a:t>В сборнике — стихи о труде, любви и свободе, первые стихи</a:t>
            </a:r>
          </a:p>
          <a:p>
            <a:pPr algn="ctr"/>
            <a:r>
              <a:rPr sz="1400" b="0" i="0">
                <a:solidFill>
                  <a:srgbClr val="8A8578"/>
                </a:solidFill>
                <a:latin typeface="Calibri"/>
              </a:rPr>
              <a:t>для детей на осетинском; «Завещание» переведено на 108 языков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06 / 15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"/>
                            </p:stCondLst>
                            <p:childTnLst>
                              <p:par>
                                <p:cTn id="9" dur="6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dur="900" fill="hold" nodeType="afterEffect" grpId="0" presetID="2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dur="8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istochni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922" y="388620"/>
            <a:ext cx="2662155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«К источнику»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холст, масло — Северо-Осетинский художественный музей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Тяжёлый труд горской женщины — одна из главных тем кисти Коста.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07 / 15</a:t>
            </a:r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det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801" y="388620"/>
            <a:ext cx="3342397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«Дети-каменщики»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1886–1891, холст, масло, 194×139 см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Незавершённый шедевр о детском труде, написанный до первой ссылки.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08 / 15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stolovay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615920"/>
            <a:ext cx="6857999" cy="4208839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«Столовая гора»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пейзаж, холст, масло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Горы вокруг Владикавказа — родной пейзаж поэта.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09 / 15</a:t>
            </a:r>
          </a:p>
        </p:txBody>
      </p:sp>
    </p:spTree>
  </p:cSld>
  <p:clrMapOvr>
    <a:masterClrMapping/>
  </p:clrMapOvr>
  <p:transition spd="med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mo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132" y="388620"/>
            <a:ext cx="2199735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«Природный мост»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пейзаж, холст, масло — музей им. М. С. Туганова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Коста исходил ущелья Кавказа и запечатлел его чудеса.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ang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163" y="388620"/>
            <a:ext cx="2879674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«Скорбящий ангел»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холст, масло — церковная живопись Коста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Он расписывал храмы и положил начало фресковой живописи Осетии.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  <p:transition spd="med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sel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174" y="388620"/>
            <a:ext cx="4603652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Автопортрет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холст, масло — Северо-Осетинский художественный музей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Художник смотрит на нас через столетие.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nument_bron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Владикавказ — памятник Коста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Прах поэта народ перенёс сюда и схоронил на Осетинской горке.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Именем Коста названы центральный парк, улицы и театр.</a:t>
            </a:r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4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9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urch_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28650"/>
            <a:ext cx="12192000" cy="81153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Осетинская горка — последний приют поэта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Народ перенёс прах Коста с Кубани во Владикавказ и схоронил в ограде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старейшего храма города — Осетинской церкви Рождества Богородицы.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4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9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aw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011680"/>
            <a:ext cx="3571997" cy="3108960"/>
          </a:xfrm>
          <a:prstGeom prst="rect">
            <a:avLst/>
          </a:prstGeom>
          <a:ln w="31750">
            <a:solidFill>
              <a:srgbClr val="A63A2B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5120640" y="2194560"/>
            <a:ext cx="62179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A63A2B"/>
                </a:solidFill>
                <a:latin typeface="Calibri"/>
              </a:rPr>
              <a:t>«Весь мир —</a:t>
            </a:r>
          </a:p>
          <a:p>
            <a:pPr algn="l"/>
            <a:r>
              <a:rPr sz="4400" b="1" i="0">
                <a:solidFill>
                  <a:srgbClr val="A63A2B"/>
                </a:solidFill>
                <a:latin typeface="Calibri"/>
              </a:rPr>
              <a:t>мой храм»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4114800"/>
            <a:ext cx="6217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3262B"/>
                </a:solidFill>
                <a:latin typeface="Calibri"/>
              </a:rPr>
              <a:t>Коста Хетагуров, 1859—1906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8A8578"/>
                </a:solidFill>
                <a:latin typeface="Calibri"/>
              </a:rPr>
              <a:t>Он прожил 46 лет, но на века дал своему народу</a:t>
            </a:r>
          </a:p>
          <a:p>
            <a:pPr algn="l"/>
            <a:r>
              <a:rPr sz="1400" b="0" i="0">
                <a:solidFill>
                  <a:srgbClr val="8A8578"/>
                </a:solidFill>
                <a:latin typeface="Calibri"/>
              </a:rPr>
              <a:t>литературу, язык и голос.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"/>
                            </p:stCondLst>
                            <p:childTnLst>
                              <p:par>
                                <p:cTn id="9" dur="8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dur="9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4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Коста Хетагуров — поэт и художник</dc:title>
  <dc:subject/>
  <dc:creator>Arena.ai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