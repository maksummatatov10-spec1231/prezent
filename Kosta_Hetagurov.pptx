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ist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2560" y="1417320"/>
            <a:ext cx="6583680" cy="3686861"/>
          </a:xfrm>
          <a:prstGeom prst="rect">
            <a:avLst/>
          </a:prstGeom>
          <a:ln w="31750">
            <a:solidFill>
              <a:srgbClr val="C9A227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40080" y="1463040"/>
            <a:ext cx="5486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600" b="1" i="0">
                <a:solidFill>
                  <a:srgbClr val="23262B"/>
                </a:solidFill>
                <a:latin typeface="Calibri"/>
              </a:rPr>
              <a:t>Коста</a:t>
            </a:r>
          </a:p>
          <a:p>
            <a:pPr algn="l"/>
            <a:r>
              <a:rPr sz="6600" b="1" i="0">
                <a:solidFill>
                  <a:srgbClr val="23262B"/>
                </a:solidFill>
                <a:latin typeface="Calibri"/>
              </a:rPr>
              <a:t>Хетагуров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703320"/>
            <a:ext cx="2011680" cy="50800"/>
          </a:xfrm>
          <a:prstGeom prst="rect">
            <a:avLst/>
          </a:prstGeom>
          <a:solidFill>
            <a:srgbClr val="A6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A63A2B"/>
                </a:solidFill>
                <a:latin typeface="Calibri"/>
              </a:rPr>
              <a:t>1859 — 1906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5669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23262B"/>
                </a:solidFill>
                <a:latin typeface="Calibri"/>
              </a:rPr>
              <a:t>поэт • художник • просветитель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8A8578"/>
                </a:solidFill>
                <a:latin typeface="Calibri"/>
              </a:rPr>
              <a:t>основоположник осетинской литературы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"/>
                            </p:stCondLst>
                            <p:childTnLst>
                              <p:par>
                                <p:cTn id="9" dur="9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"/>
                            </p:stCondLst>
                            <p:childTnLst>
                              <p:par>
                                <p:cTn id="14" dur="700" fill="hold" nodeType="afterEffect" grpId="0" presetID="2" presetClass="entr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"/>
                            </p:stCondLst>
                            <p:childTnLst>
                              <p:par>
                                <p:cTn id="18" dur="5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100"/>
                            </p:stCondLst>
                            <p:childTnLst>
                              <p:par>
                                <p:cTn id="22" dur="6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400"/>
                            </p:stCondLst>
                            <p:childTnLst>
                              <p:par>
                                <p:cTn id="26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osta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005840"/>
            <a:ext cx="3273673" cy="484632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5486400" y="1554480"/>
            <a:ext cx="6035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Коста Леванович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Хетагуров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3108960"/>
            <a:ext cx="6035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D8CEBE"/>
                </a:solidFill>
                <a:latin typeface="Calibri"/>
              </a:rPr>
              <a:t>осетинский поэт и художник,</a:t>
            </a:r>
          </a:p>
          <a:p>
            <a:pPr algn="l"/>
            <a:r>
              <a:rPr sz="1700" b="0" i="0">
                <a:solidFill>
                  <a:srgbClr val="D8CEBE"/>
                </a:solidFill>
                <a:latin typeface="Calibri"/>
              </a:rPr>
              <a:t>основоположник осетинского</a:t>
            </a:r>
          </a:p>
          <a:p>
            <a:pPr algn="l"/>
            <a:r>
              <a:rPr sz="1700" b="0" i="0">
                <a:solidFill>
                  <a:srgbClr val="D8CEBE"/>
                </a:solidFill>
                <a:latin typeface="Calibri"/>
              </a:rPr>
              <a:t>литературного языка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02 / 12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9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dur="700" fill="hold" nodeType="afterEffect" grpId="0" presetID="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100"/>
                            </p:stCondLst>
                            <p:childTnLst>
                              <p:par>
                                <p:cTn id="18" dur="8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rt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16582" y="0"/>
            <a:ext cx="13625165" cy="68580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0" y="5897880"/>
            <a:ext cx="12192000" cy="9601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943600"/>
            <a:ext cx="1109167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Аул Нар — колыбель поэта</a:t>
            </a:r>
          </a:p>
          <a:p>
            <a:pPr algn="ctr">
              <a:spcBef>
                <a:spcPts val="400"/>
              </a:spcBef>
            </a:pPr>
            <a:r>
              <a:rPr sz="1400" b="0" i="0">
                <a:solidFill>
                  <a:srgbClr val="D8CEBE"/>
                </a:solidFill>
                <a:latin typeface="Calibri"/>
              </a:rPr>
              <a:t>15 октября 1859, Мамисонское ущелье</a:t>
            </a:r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4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9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dur="700" fill="hold" nodeType="afterEffect" grpId="0" presetID="2" presetClass="entr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oto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937760" cy="2666390"/>
          </a:xfrm>
          <a:prstGeom prst="rect">
            <a:avLst/>
          </a:prstGeom>
          <a:ln w="31750">
            <a:solidFill>
              <a:srgbClr val="C9A227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822960" y="137160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Дорога к искусству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5486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Владикавказская прогимназия</a:t>
            </a:r>
          </a:p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Ставропольская гимназия</a:t>
            </a:r>
          </a:p>
          <a:p>
            <a:pPr algn="l"/>
            <a:r>
              <a:rPr sz="1900" b="0" i="0">
                <a:solidFill>
                  <a:srgbClr val="C9A227"/>
                </a:solidFill>
                <a:latin typeface="Calibri"/>
              </a:rPr>
              <a:t>Петербургская академия художеств, 1881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04 / 12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dur="700" fill="hold" nodeType="afterEffect" grpId="0" presetID="2" presetClass="entr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dur="900" fill="hold" nodeType="afterEffect" grpId="0" presetID="22" presetClass="entr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"/>
                            </p:stCondLst>
                            <p:childTnLst>
                              <p:par>
                                <p:cTn id="18" dur="9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480560" y="1828800"/>
            <a:ext cx="3200400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6015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800" b="1" i="0">
                <a:solidFill>
                  <a:srgbClr val="C9A227"/>
                </a:solidFill>
                <a:latin typeface="Calibri"/>
              </a:rPr>
              <a:t>«Ирон фæндыр»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1899 — первый сборник осетинской поэзии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944575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8A8578"/>
                </a:solidFill>
                <a:latin typeface="Calibri"/>
              </a:rPr>
              <a:t>стихотворение «Завещание» переведено на 108 языков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05 / 12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"/>
                            </p:stCondLst>
                            <p:childTnLst>
                              <p:par>
                                <p:cTn id="9" dur="6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dur="900" fill="hold" nodeType="afterEffect" grpId="0" presetID="22" presetClass="entr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dur="8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int_goryanka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4323" y="502920"/>
            <a:ext cx="3443353" cy="466344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897880"/>
            <a:ext cx="12192000" cy="9601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943600"/>
            <a:ext cx="1109167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«Горянка, идущая за водой»</a:t>
            </a:r>
          </a:p>
          <a:p>
            <a:pPr algn="ctr">
              <a:spcBef>
                <a:spcPts val="400"/>
              </a:spcBef>
            </a:pPr>
            <a:r>
              <a:rPr sz="1400" b="0" i="0">
                <a:solidFill>
                  <a:srgbClr val="D8CEBE"/>
                </a:solidFill>
                <a:latin typeface="Calibri"/>
              </a:rPr>
              <a:t>живопись Коста Хетагурова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06 / 12</a:t>
            </a:r>
          </a:p>
        </p:txBody>
      </p:sp>
    </p:spTree>
  </p:cSld>
  <p:clrMapOvr>
    <a:masterClrMapping/>
  </p:clrMapOvr>
  <p:transition spd="med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10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int_popova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994" y="502920"/>
            <a:ext cx="3310012" cy="466344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897880"/>
            <a:ext cx="12192000" cy="9601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943600"/>
            <a:ext cx="1109167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Портрет А. Я. Поповой</a:t>
            </a:r>
          </a:p>
          <a:p>
            <a:pPr algn="ctr">
              <a:spcBef>
                <a:spcPts val="400"/>
              </a:spcBef>
            </a:pPr>
            <a:r>
              <a:rPr sz="1400" b="0" i="0">
                <a:solidFill>
                  <a:srgbClr val="D8CEBE"/>
                </a:solidFill>
                <a:latin typeface="Calibri"/>
              </a:rPr>
              <a:t>той, что любила и была любима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07 / 12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10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int_master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5805" y="502920"/>
            <a:ext cx="5340390" cy="466344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897880"/>
            <a:ext cx="12192000" cy="9601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943600"/>
            <a:ext cx="1109167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«Мастерская художника»</a:t>
            </a:r>
          </a:p>
          <a:p>
            <a:pPr algn="ctr">
              <a:spcBef>
                <a:spcPts val="400"/>
              </a:spcBef>
            </a:pPr>
            <a:r>
              <a:rPr sz="1400" b="0" i="0">
                <a:solidFill>
                  <a:srgbClr val="D8CEBE"/>
                </a:solidFill>
                <a:latin typeface="Calibri"/>
              </a:rPr>
              <a:t>Коста за работой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08 / 12</a:t>
            </a:r>
          </a:p>
        </p:txBody>
      </p:sp>
    </p:spTree>
  </p:cSld>
  <p:clrMapOvr>
    <a:masterClrMapping/>
  </p:clrMapOvr>
  <p:transition spd="med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10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aw_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7779" y="502920"/>
            <a:ext cx="3536442" cy="466344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897880"/>
            <a:ext cx="12192000" cy="9601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943600"/>
            <a:ext cx="1109167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Образ Коста в графике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09 / 12</a:t>
            </a:r>
          </a:p>
        </p:txBody>
      </p: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10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nument_bronz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0" y="5897880"/>
            <a:ext cx="12192000" cy="9601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943600"/>
            <a:ext cx="1109167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Владикавказ — памятник Коста</a:t>
            </a:r>
          </a:p>
          <a:p>
            <a:pPr algn="ctr">
              <a:spcBef>
                <a:spcPts val="400"/>
              </a:spcBef>
            </a:pPr>
            <a:r>
              <a:rPr sz="1400" b="0" i="0">
                <a:solidFill>
                  <a:srgbClr val="D8CEBE"/>
                </a:solidFill>
                <a:latin typeface="Calibri"/>
              </a:rPr>
              <a:t>центральное место города, у гор и Терека</a:t>
            </a:r>
          </a:p>
        </p:txBody>
      </p:sp>
    </p:spTree>
  </p:cSld>
  <p:clrMapOvr>
    <a:masterClrMapping/>
  </p:clrMapOvr>
  <p:transition spd="med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4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9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dur="700" fill="hold" nodeType="afterEffect" grpId="0" presetID="2" presetClass="entr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st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29920"/>
            <a:ext cx="12192000" cy="811784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0" y="5897880"/>
            <a:ext cx="12192000" cy="9601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943600"/>
            <a:ext cx="1109167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Северо-Осетинский университет имени К. Л. Хетагурова</a:t>
            </a:r>
          </a:p>
          <a:p>
            <a:pPr algn="ctr">
              <a:spcBef>
                <a:spcPts val="400"/>
              </a:spcBef>
            </a:pPr>
            <a:r>
              <a:rPr sz="1400" b="0" i="0">
                <a:solidFill>
                  <a:srgbClr val="D8CEBE"/>
                </a:solidFill>
                <a:latin typeface="Calibri"/>
              </a:rPr>
              <a:t>имя Коста носят улицы, театры и сёла по всему Кавказу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4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9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dur="700" fill="hold" nodeType="afterEffect" grpId="0" presetID="2" presetClass="entr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aw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011680"/>
            <a:ext cx="3571997" cy="3108960"/>
          </a:xfrm>
          <a:prstGeom prst="rect">
            <a:avLst/>
          </a:prstGeom>
          <a:ln w="31750">
            <a:solidFill>
              <a:srgbClr val="A63A2B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5120640" y="2194560"/>
            <a:ext cx="62179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A63A2B"/>
                </a:solidFill>
                <a:latin typeface="Calibri"/>
              </a:rPr>
              <a:t>«Весь мир —</a:t>
            </a:r>
          </a:p>
          <a:p>
            <a:pPr algn="l"/>
            <a:r>
              <a:rPr sz="4400" b="1" i="0">
                <a:solidFill>
                  <a:srgbClr val="A63A2B"/>
                </a:solidFill>
                <a:latin typeface="Calibri"/>
              </a:rPr>
              <a:t>мой храм»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0" y="4114800"/>
            <a:ext cx="6217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23262B"/>
                </a:solidFill>
                <a:latin typeface="Calibri"/>
              </a:rPr>
              <a:t>Коста Хетагуров, 1859—1906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"/>
                            </p:stCondLst>
                            <p:childTnLst>
                              <p:par>
                                <p:cTn id="9" dur="8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600"/>
                            </p:stCondLst>
                            <p:childTnLst>
                              <p:par>
                                <p:cTn id="13" dur="9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4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Коста Хетагуров — поэт и художник</dc:title>
  <dc:subject/>
  <dc:creator>Arena.ai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