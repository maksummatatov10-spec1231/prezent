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ist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560" y="1417320"/>
            <a:ext cx="6583680" cy="3686861"/>
          </a:xfrm>
          <a:prstGeom prst="rect">
            <a:avLst/>
          </a:prstGeom>
          <a:ln w="31750">
            <a:solidFill>
              <a:srgbClr val="C9A227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40080" y="1463040"/>
            <a:ext cx="5486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600" b="1" i="0">
                <a:solidFill>
                  <a:srgbClr val="23262B"/>
                </a:solidFill>
                <a:latin typeface="Calibri"/>
              </a:rPr>
              <a:t>Коста</a:t>
            </a:r>
          </a:p>
          <a:p>
            <a:pPr algn="l"/>
            <a:r>
              <a:rPr sz="6600" b="1" i="0">
                <a:solidFill>
                  <a:srgbClr val="23262B"/>
                </a:solidFill>
                <a:latin typeface="Calibri"/>
              </a:rPr>
              <a:t>Хетагуров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703320"/>
            <a:ext cx="2011680" cy="50800"/>
          </a:xfrm>
          <a:prstGeom prst="rect">
            <a:avLst/>
          </a:prstGeom>
          <a:solidFill>
            <a:srgbClr val="A6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A63A2B"/>
                </a:solidFill>
                <a:latin typeface="Calibri"/>
              </a:rPr>
              <a:t>1859 — 1906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56692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3262B"/>
                </a:solidFill>
                <a:latin typeface="Calibri"/>
              </a:rPr>
              <a:t>основоположник осетинской литературы</a:t>
            </a:r>
          </a:p>
          <a:p>
            <a:pPr algn="l"/>
            <a:r>
              <a:rPr sz="1600" b="0" i="0">
                <a:solidFill>
                  <a:srgbClr val="23262B"/>
                </a:solidFill>
                <a:latin typeface="Calibri"/>
              </a:rPr>
              <a:t>и осетинского литературного языка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8A8578"/>
                </a:solidFill>
                <a:latin typeface="Calibri"/>
              </a:rPr>
              <a:t>поэт • художник • публицист • этнограф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9" dur="9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"/>
                            </p:stCondLst>
                            <p:childTnLst>
                              <p:par>
                                <p:cTn id="14" dur="700" fill="hold" nodeType="afterEffect" grpId="0" presetID="2" presetClass="entr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18" dur="5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100"/>
                            </p:stCondLst>
                            <p:childTnLst>
                              <p:par>
                                <p:cTn id="22" dur="6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400"/>
                            </p:stCondLst>
                            <p:childTnLst>
                              <p:par>
                                <p:cTn id="26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osta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005840"/>
            <a:ext cx="3273673" cy="484632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5486400" y="1554480"/>
            <a:ext cx="6035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Коста Леванович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Хетагуров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3108960"/>
            <a:ext cx="6035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8CEBE"/>
                </a:solidFill>
                <a:latin typeface="Calibri"/>
              </a:rPr>
              <a:t>Родился 15 октября 1859 года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D8CEBE"/>
                </a:solidFill>
                <a:latin typeface="Calibri"/>
              </a:rPr>
              <a:t>в горном ауле Нар.</a:t>
            </a:r>
          </a:p>
          <a:p>
            <a:pPr algn="l"/>
            <a:r>
              <a:rPr sz="1600" b="0" i="0">
                <a:solidFill>
                  <a:srgbClr val="D8CEBE"/>
                </a:solidFill>
                <a:latin typeface="Calibri"/>
              </a:rPr>
              <a:t>Учился живописи в Петербургской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D8CEBE"/>
                </a:solidFill>
                <a:latin typeface="Calibri"/>
              </a:rPr>
              <a:t>академии художеств.</a:t>
            </a:r>
          </a:p>
          <a:p>
            <a:pPr algn="l"/>
            <a:r>
              <a:rPr sz="1600" b="0" i="0">
                <a:solidFill>
                  <a:srgbClr val="D8CEBE"/>
                </a:solidFill>
                <a:latin typeface="Calibri"/>
              </a:rPr>
              <a:t>Подарил осетинскому народу</a:t>
            </a:r>
          </a:p>
          <a:p>
            <a:pPr algn="l"/>
            <a:r>
              <a:rPr sz="1600" b="0" i="0">
                <a:solidFill>
                  <a:srgbClr val="D8CEBE"/>
                </a:solidFill>
                <a:latin typeface="Calibri"/>
              </a:rPr>
              <a:t>литературный язык и поэзию.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02 / 12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9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100"/>
                            </p:stCondLst>
                            <p:childTnLst>
                              <p:par>
                                <p:cTn id="18" dur="8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rt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6582" y="0"/>
            <a:ext cx="13625165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Аул Нар — колыбель поэта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Здесь 15 октября 1859 года в семье офицера русской армии родился Коста.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Горы Мамисонского ущелья стали главной темой его стихов и картин.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4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9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oto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937760" cy="2666390"/>
          </a:xfrm>
          <a:prstGeom prst="rect">
            <a:avLst/>
          </a:prstGeom>
          <a:ln w="31750">
            <a:solidFill>
              <a:srgbClr val="C9A227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822960" y="137160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Дорога к искусству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54864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Владикавказская прогимназия и Ставропольская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гимназия — здесь открылся дар к слову и кисти.</a:t>
            </a:r>
          </a:p>
          <a:p>
            <a:pPr algn="l"/>
            <a:r>
              <a:rPr sz="1500" b="0" i="0">
                <a:solidFill>
                  <a:srgbClr val="C9A227"/>
                </a:solidFill>
                <a:latin typeface="Calibri"/>
              </a:rPr>
              <a:t>Петербургская академия художеств, 1881 —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C9A227"/>
                </a:solidFill>
                <a:latin typeface="Calibri"/>
              </a:rPr>
              <a:t>мечта о живописи стала делом жизни.</a:t>
            </a:r>
          </a:p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Из-за бедности покинул академию, но вернул</a:t>
            </a:r>
          </a:p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живопись в Осетию: портрет, пейзаж, фреска.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04 / 12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dur="700" fill="hold" nodeType="afterEffect" grpId="0" presetID="2" presetClass="entr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dur="900" fill="hold" nodeType="afterEffect" grpId="0" presetID="22" presetClass="entr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18" dur="9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480560" y="1828800"/>
            <a:ext cx="320040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6015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800" b="1" i="0">
                <a:solidFill>
                  <a:srgbClr val="C9A227"/>
                </a:solidFill>
                <a:latin typeface="Calibri"/>
              </a:rPr>
              <a:t>«Ирон фæндыр»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«Осетинская лира», 1899 — первый сборник осетинской поэзии,</a:t>
            </a:r>
          </a:p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с него начинается осетинская литература и литературный язык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457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8A8578"/>
                </a:solidFill>
                <a:latin typeface="Calibri"/>
              </a:rPr>
              <a:t>В сборнике — стихи о труде, любви и свободе, первые стихи</a:t>
            </a:r>
          </a:p>
          <a:p>
            <a:pPr algn="ctr"/>
            <a:r>
              <a:rPr sz="1400" b="0" i="0">
                <a:solidFill>
                  <a:srgbClr val="8A8578"/>
                </a:solidFill>
                <a:latin typeface="Calibri"/>
              </a:rPr>
              <a:t>для детей на осетинском; «Завещание» переведено на 108 языков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05 / 12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"/>
                            </p:stCondLst>
                            <p:childTnLst>
                              <p:par>
                                <p:cTn id="9" dur="6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dur="900" fill="hold" nodeType="afterEffect" grpId="0" presetID="2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dur="8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goryanka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4323" y="320040"/>
            <a:ext cx="3443353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«Горянка, идущая за водой»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живопись Коста Хетагурова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Тяжёлый труд горской женщины — одна из главных тем его кисти.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06 / 12</a:t>
            </a:r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popova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994" y="320040"/>
            <a:ext cx="3310012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Портрет А. Я. Поповой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живопись Коста Хетагурова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Анна — та, кого любил поэт: о семье и детях он мечтал до конца дней.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07 / 12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master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5805" y="320040"/>
            <a:ext cx="5340390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«Мастерская художника»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живопись Коста Хетагурова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Коста — основоположник станковой и фресковой живописи в Осетии.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08 / 12</a:t>
            </a:r>
          </a:p>
        </p:txBody>
      </p:sp>
    </p:spTree>
  </p:cSld>
  <p:clrMapOvr>
    <a:masterClrMapping/>
  </p:clrMapOvr>
  <p:transition spd="med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aw_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7779" y="320040"/>
            <a:ext cx="3536442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897880"/>
            <a:ext cx="12192000" cy="9601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43600"/>
            <a:ext cx="1109167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Образ Коста в графике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Народ хранит память о поэте: его образ живёт в работах многих художников.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09 / 12</a:t>
            </a:r>
          </a:p>
        </p:txBody>
      </p: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nument_bron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Владикавказ — памятник Коста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Прах поэта народ перенёс сюда и схоронил на Осетинской горке.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Именем Коста названы центральный парк, улицы и театр.</a:t>
            </a:r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4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9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st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29920"/>
            <a:ext cx="12192000" cy="811784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Северо-Осетинский университет имени К. Л. Хетагурова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Имя поэта носят университеты, сёла и улицы по всему Кавказу,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а его «Ирон фæндыр» переведён на десятки языков мира.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4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9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aw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011680"/>
            <a:ext cx="3571997" cy="3108960"/>
          </a:xfrm>
          <a:prstGeom prst="rect">
            <a:avLst/>
          </a:prstGeom>
          <a:ln w="31750">
            <a:solidFill>
              <a:srgbClr val="A63A2B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5120640" y="2194560"/>
            <a:ext cx="62179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A63A2B"/>
                </a:solidFill>
                <a:latin typeface="Calibri"/>
              </a:rPr>
              <a:t>«Весь мир —</a:t>
            </a:r>
          </a:p>
          <a:p>
            <a:pPr algn="l"/>
            <a:r>
              <a:rPr sz="4400" b="1" i="0">
                <a:solidFill>
                  <a:srgbClr val="A63A2B"/>
                </a:solidFill>
                <a:latin typeface="Calibri"/>
              </a:rPr>
              <a:t>мой храм»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4114800"/>
            <a:ext cx="6217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3262B"/>
                </a:solidFill>
                <a:latin typeface="Calibri"/>
              </a:rPr>
              <a:t>Коста Хетагуров, 1859—1906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8A8578"/>
                </a:solidFill>
                <a:latin typeface="Calibri"/>
              </a:rPr>
              <a:t>Он прожил 46 лет, но на века дал своему народу</a:t>
            </a:r>
          </a:p>
          <a:p>
            <a:pPr algn="l"/>
            <a:r>
              <a:rPr sz="1400" b="0" i="0">
                <a:solidFill>
                  <a:srgbClr val="8A8578"/>
                </a:solidFill>
                <a:latin typeface="Calibri"/>
              </a:rPr>
              <a:t>литературу, язык и голос.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"/>
                            </p:stCondLst>
                            <p:childTnLst>
                              <p:par>
                                <p:cTn id="9" dur="8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dur="9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4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Коста Хетагуров — поэт и художник</dc:title>
  <dc:subject/>
  <dc:creator>Arena.ai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