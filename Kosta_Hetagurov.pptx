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E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ist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2560" y="1417320"/>
            <a:ext cx="6583680" cy="3686861"/>
          </a:xfrm>
          <a:prstGeom prst="rect">
            <a:avLst/>
          </a:prstGeom>
          <a:ln w="31750">
            <a:solidFill>
              <a:srgbClr val="C9A227"/>
            </a:solidFill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640080" y="1463040"/>
            <a:ext cx="54864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600" b="1" i="0">
                <a:solidFill>
                  <a:srgbClr val="23262B"/>
                </a:solidFill>
                <a:latin typeface="Calibri"/>
              </a:rPr>
              <a:t>Коста</a:t>
            </a:r>
          </a:p>
          <a:p>
            <a:pPr algn="l"/>
            <a:r>
              <a:rPr sz="6600" b="1" i="0">
                <a:solidFill>
                  <a:srgbClr val="23262B"/>
                </a:solidFill>
                <a:latin typeface="Calibri"/>
              </a:rPr>
              <a:t>Хетагуров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3703320"/>
            <a:ext cx="2011680" cy="50800"/>
          </a:xfrm>
          <a:prstGeom prst="rect">
            <a:avLst/>
          </a:prstGeom>
          <a:solidFill>
            <a:srgbClr val="A6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931920"/>
            <a:ext cx="5486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A63A2B"/>
                </a:solidFill>
                <a:latin typeface="Calibri"/>
              </a:rPr>
              <a:t>1859 — 1906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572000"/>
            <a:ext cx="566928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23262B"/>
                </a:solidFill>
                <a:latin typeface="Calibri"/>
              </a:rPr>
              <a:t>основоположник осетинской литературы</a:t>
            </a:r>
          </a:p>
          <a:p>
            <a:pPr algn="l"/>
            <a:r>
              <a:rPr sz="1600" b="0" i="0">
                <a:solidFill>
                  <a:srgbClr val="23262B"/>
                </a:solidFill>
                <a:latin typeface="Calibri"/>
              </a:rPr>
              <a:t>и осетинского литературного языка</a:t>
            </a:r>
          </a:p>
          <a:p>
            <a:pPr algn="l">
              <a:spcBef>
                <a:spcPts val="600"/>
              </a:spcBef>
            </a:pPr>
            <a:r>
              <a:rPr sz="1300" b="0" i="0">
                <a:solidFill>
                  <a:srgbClr val="8A8578"/>
                </a:solidFill>
                <a:latin typeface="Calibri"/>
              </a:rPr>
              <a:t>поэт • художник • публицист • этнограф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5" dur="300" fill="hold" nodeType="withEffect" grpId="0" presetID="9" presetClass="entr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"/>
                            </p:stCondLst>
                            <p:childTnLst>
                              <p:par>
                                <p:cTn id="9" dur="900" fill="hold" nodeType="afterEffect" grpId="0" presetID="22" presetClass="entr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" dur="9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0"/>
                            </p:stCondLst>
                            <p:childTnLst>
                              <p:par>
                                <p:cTn id="14" dur="700" fill="hold" nodeType="afterEffect" grpId="0" presetID="2" presetClass="entr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900"/>
                            </p:stCondLst>
                            <p:childTnLst>
                              <p:par>
                                <p:cTn id="18" dur="500" fill="hold" nodeType="afterEffect" grpId="0" presetID="22" presetClass="entr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100"/>
                            </p:stCondLst>
                            <p:childTnLst>
                              <p:par>
                                <p:cTn id="22" dur="600" fill="hold" nodeType="afterEffect" grpId="0" presetID="9" presetClass="entr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400"/>
                            </p:stCondLst>
                            <p:childTnLst>
                              <p:par>
                                <p:cTn id="26" dur="700" fill="hold" nodeType="afterEffect" grpId="0" presetID="9" presetClass="entr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13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hoto_student_fu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914400"/>
            <a:ext cx="3119203" cy="5029200"/>
          </a:xfrm>
          <a:prstGeom prst="rect">
            <a:avLst/>
          </a:prstGeom>
          <a:ln w="38100">
            <a:solidFill>
              <a:srgbClr val="C9A227"/>
            </a:solidFill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5486400" y="1554480"/>
            <a:ext cx="60350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Коста Леванович</a:t>
            </a:r>
          </a:p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Хетагуров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3108960"/>
            <a:ext cx="603504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8A8578"/>
                </a:solidFill>
                <a:latin typeface="Calibri"/>
              </a:rPr>
              <a:t>На фото — молодой Коста, студент.</a:t>
            </a:r>
          </a:p>
          <a:p>
            <a:pPr algn="l"/>
            <a:r>
              <a:rPr sz="1600" b="0" i="0">
                <a:solidFill>
                  <a:srgbClr val="D8CEBE"/>
                </a:solidFill>
                <a:latin typeface="Calibri"/>
              </a:rPr>
              <a:t>Родился 15 октября 1859 года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D8CEBE"/>
                </a:solidFill>
                <a:latin typeface="Calibri"/>
              </a:rPr>
              <a:t>в горном ауле Нар.</a:t>
            </a:r>
          </a:p>
          <a:p>
            <a:pPr algn="l"/>
            <a:r>
              <a:rPr sz="1600" b="0" i="0">
                <a:solidFill>
                  <a:srgbClr val="D8CEBE"/>
                </a:solidFill>
                <a:latin typeface="Calibri"/>
              </a:rPr>
              <a:t>Учился живописи в Петербургской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D8CEBE"/>
                </a:solidFill>
                <a:latin typeface="Calibri"/>
              </a:rPr>
              <a:t>академии художеств.</a:t>
            </a:r>
          </a:p>
          <a:p>
            <a:pPr algn="l"/>
            <a:r>
              <a:rPr sz="1600" b="0" i="0">
                <a:solidFill>
                  <a:srgbClr val="D8CEBE"/>
                </a:solidFill>
                <a:latin typeface="Calibri"/>
              </a:rPr>
              <a:t>Подарил осетинскому народу</a:t>
            </a:r>
          </a:p>
          <a:p>
            <a:pPr algn="l"/>
            <a:r>
              <a:rPr sz="1600" b="0" i="0">
                <a:solidFill>
                  <a:srgbClr val="D8CEBE"/>
                </a:solidFill>
                <a:latin typeface="Calibri"/>
              </a:rPr>
              <a:t>литературный язык и поэзию.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720" y="640080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CFD8E3"/>
                </a:solidFill>
                <a:latin typeface="Calibri"/>
              </a:rPr>
              <a:t>02 / 15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5" dur="300" fill="hold" nodeType="withEffect" grpId="0" presetID="9" presetClass="entr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0"/>
                            </p:stCondLst>
                            <p:childTnLst>
                              <p:par>
                                <p:cTn id="9" dur="900" fill="hold" nodeType="afterEffect" grpId="0" presetID="9" presetClass="entr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9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dur="700" fill="hold" nodeType="afterEffect" grpId="0" presetID="2" presetClass="entr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100"/>
                            </p:stCondLst>
                            <p:childTnLst>
                              <p:par>
                                <p:cTn id="18" dur="800" fill="hold" nodeType="afterEffect" grpId="0" presetID="9" presetClass="entr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ort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16582" y="0"/>
            <a:ext cx="13625165" cy="6858000"/>
          </a:xfrm>
          <a:prstGeom prst="rect">
            <a:avLst/>
          </a:prstGeom>
          <a:effectLst/>
        </p:spPr>
      </p:pic>
      <p:sp>
        <p:nvSpPr>
          <p:cNvPr id="3" name="Rectangle 2"/>
          <p:cNvSpPr/>
          <p:nvPr/>
        </p:nvSpPr>
        <p:spPr>
          <a:xfrm>
            <a:off x="0" y="5440680"/>
            <a:ext cx="12192000" cy="1417320"/>
          </a:xfrm>
          <a:prstGeom prst="rect">
            <a:avLst/>
          </a:prstGeom>
          <a:solidFill>
            <a:srgbClr val="050814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0"/>
            <a:ext cx="11091672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Аул Нар — колыбель поэта</a:t>
            </a:r>
          </a:p>
          <a:p>
            <a:pPr algn="ctr">
              <a:spcBef>
                <a:spcPts val="300"/>
              </a:spcBef>
            </a:pPr>
            <a:r>
              <a:rPr sz="1300" b="0" i="0">
                <a:solidFill>
                  <a:srgbClr val="D8CEBE"/>
                </a:solidFill>
                <a:latin typeface="Calibri"/>
              </a:rPr>
              <a:t>Здесь 15 октября 1859 года в семье офицера русской армии родился Коста.</a:t>
            </a:r>
          </a:p>
          <a:p>
            <a:pPr algn="ctr">
              <a:spcBef>
                <a:spcPts val="300"/>
              </a:spcBef>
            </a:pPr>
            <a:r>
              <a:rPr sz="1300" b="0" i="0">
                <a:solidFill>
                  <a:srgbClr val="D8CEBE"/>
                </a:solidFill>
                <a:latin typeface="Calibri"/>
              </a:rPr>
              <a:t>Горы Мамисонского ущелья стали главной темой его стихов и картин.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5" dur="400" fill="hold" nodeType="withEffect" grpId="0" presetID="9" presetClass="entr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300"/>
                            </p:stCondLst>
                            <p:childTnLst>
                              <p:par>
                                <p:cTn id="9" dur="500" fill="hold" nodeType="afterEffect" grpId="0" presetID="9" presetClass="entr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dur="700" fill="hold" nodeType="afterEffect" grpId="0" presetID="2" presetClass="entr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ar_vill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07258"/>
            <a:ext cx="12192000" cy="7472516"/>
          </a:xfrm>
          <a:prstGeom prst="rect">
            <a:avLst/>
          </a:prstGeom>
          <a:effectLst/>
        </p:spPr>
      </p:pic>
      <p:pic>
        <p:nvPicPr>
          <p:cNvPr id="3" name="Picture 2" descr="nar_interio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548640"/>
            <a:ext cx="3840480" cy="2880360"/>
          </a:xfrm>
          <a:prstGeom prst="rect">
            <a:avLst/>
          </a:prstGeom>
          <a:ln w="38100">
            <a:solidFill>
              <a:srgbClr val="C9A227"/>
            </a:solidFill>
          </a:ln>
          <a:effectLst/>
        </p:spPr>
      </p:pic>
      <p:sp>
        <p:nvSpPr>
          <p:cNvPr id="4" name="Rectangle 3"/>
          <p:cNvSpPr/>
          <p:nvPr/>
        </p:nvSpPr>
        <p:spPr>
          <a:xfrm>
            <a:off x="0" y="5440680"/>
            <a:ext cx="12192000" cy="1417320"/>
          </a:xfrm>
          <a:prstGeom prst="rect">
            <a:avLst/>
          </a:prstGeom>
          <a:solidFill>
            <a:srgbClr val="050814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486400"/>
            <a:ext cx="11091672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Село Нар — родина поэта</a:t>
            </a:r>
          </a:p>
          <a:p>
            <a:pPr algn="ctr">
              <a:spcBef>
                <a:spcPts val="300"/>
              </a:spcBef>
            </a:pPr>
            <a:r>
              <a:rPr sz="1300" b="0" i="0">
                <a:solidFill>
                  <a:srgbClr val="D8CEBE"/>
                </a:solidFill>
                <a:latin typeface="Calibri"/>
              </a:rPr>
              <a:t>Здесь 15 октября 1859 года родился Коста; ныне — мемориальный дом-музей.</a:t>
            </a:r>
          </a:p>
          <a:p>
            <a:pPr algn="ctr">
              <a:spcBef>
                <a:spcPts val="300"/>
              </a:spcBef>
            </a:pPr>
            <a:r>
              <a:rPr sz="1300" b="0" i="0">
                <a:solidFill>
                  <a:srgbClr val="D8CEBE"/>
                </a:solidFill>
                <a:latin typeface="Calibri"/>
              </a:rPr>
              <a:t>Каменные стены, очаг и утварь горцев хранят память о его детстве.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5" dur="400" fill="hold" nodeType="withEffect" grpId="0" presetID="9" presetClass="entr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400"/>
                            </p:stCondLst>
                            <p:childTnLst>
                              <p:par>
                                <p:cTn id="9" dur="900" fill="hold" nodeType="afterEffect" grpId="0" presetID="22" presetClass="entr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" dur="9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00"/>
                            </p:stCondLst>
                            <p:childTnLst>
                              <p:par>
                                <p:cTn id="13" dur="500" fill="hold" nodeType="afterEffect" grpId="0" presetID="9" presetClass="entr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dur="700" fill="hold" nodeType="afterEffect" grpId="0" presetID="2" presetClass="entr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13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oto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371600"/>
            <a:ext cx="4937760" cy="2666390"/>
          </a:xfrm>
          <a:prstGeom prst="rect">
            <a:avLst/>
          </a:prstGeom>
          <a:ln w="31750">
            <a:solidFill>
              <a:srgbClr val="C9A227"/>
            </a:solidFill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822960" y="1371600"/>
            <a:ext cx="5486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Дорога к искусству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468880"/>
            <a:ext cx="54864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Владикавказская прогимназия и Ставропольская</a:t>
            </a:r>
          </a:p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гимназия — здесь открылся дар к слову и кисти.</a:t>
            </a:r>
          </a:p>
          <a:p>
            <a:pPr algn="l"/>
            <a:r>
              <a:rPr sz="1500" b="0" i="0">
                <a:solidFill>
                  <a:srgbClr val="C9A227"/>
                </a:solidFill>
                <a:latin typeface="Calibri"/>
              </a:rPr>
              <a:t>Петербургская академия художеств, 1881 —</a:t>
            </a:r>
          </a:p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C9A227"/>
                </a:solidFill>
                <a:latin typeface="Calibri"/>
              </a:rPr>
              <a:t>мечта о живописи стала делом жизни.</a:t>
            </a:r>
          </a:p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Из-за бедности покинул академию, но вернул</a:t>
            </a:r>
          </a:p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живопись в Осетию: портрет, пейзаж, фреска.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720" y="640080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CFD8E3"/>
                </a:solidFill>
                <a:latin typeface="Calibri"/>
              </a:rPr>
              <a:t>05 / 15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5" dur="300" fill="hold" nodeType="withEffect" grpId="0" presetID="9" presetClass="entr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"/>
                            </p:stCondLst>
                            <p:childTnLst>
                              <p:par>
                                <p:cTn id="10" dur="700" fill="hold" nodeType="afterEffect" grpId="0" presetID="2" presetClass="entr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400"/>
                            </p:stCondLst>
                            <p:childTnLst>
                              <p:par>
                                <p:cTn id="14" dur="900" fill="hold" nodeType="afterEffect" grpId="0" presetID="22" presetClass="entr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9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900"/>
                            </p:stCondLst>
                            <p:childTnLst>
                              <p:par>
                                <p:cTn id="18" dur="900" fill="hold" nodeType="afterEffect" grpId="0" presetID="9" presetClass="entr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9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13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480560" y="1828800"/>
            <a:ext cx="3200400" cy="508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60152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800" b="1" i="0">
                <a:solidFill>
                  <a:srgbClr val="C9A227"/>
                </a:solidFill>
                <a:latin typeface="Calibri"/>
              </a:rPr>
              <a:t>«Ирон фæндыр»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657600"/>
            <a:ext cx="944575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«Осетинская лира», 1899 — первый сборник осетинской поэзии,</a:t>
            </a:r>
          </a:p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с него начинается осетинская литература и литературный язык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709160"/>
            <a:ext cx="94457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8A8578"/>
                </a:solidFill>
                <a:latin typeface="Calibri"/>
              </a:rPr>
              <a:t>В сборнике — стихи о труде, любви и свободе, первые стихи</a:t>
            </a:r>
          </a:p>
          <a:p>
            <a:pPr algn="ctr"/>
            <a:r>
              <a:rPr sz="1400" b="0" i="0">
                <a:solidFill>
                  <a:srgbClr val="8A8578"/>
                </a:solidFill>
                <a:latin typeface="Calibri"/>
              </a:rPr>
              <a:t>для детей на осетинском; «Завещание» переведено на 108 языков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720" y="640080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CFD8E3"/>
                </a:solidFill>
                <a:latin typeface="Calibri"/>
              </a:rPr>
              <a:t>06 / 15</a:t>
            </a:r>
          </a:p>
        </p:txBody>
      </p:sp>
    </p:spTree>
  </p:cSld>
  <p:clrMapOvr>
    <a:masterClrMapping/>
  </p:clrMapOvr>
  <p:transition spd="med">
    <p:split orient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5" dur="300" fill="hold" nodeType="withEffect" grpId="0" presetID="9" presetClass="entr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"/>
                            </p:stCondLst>
                            <p:childTnLst>
                              <p:par>
                                <p:cTn id="9" dur="600" fill="hold" nodeType="afterEffect" grpId="0" presetID="22" presetClass="entr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00"/>
                            </p:stCondLst>
                            <p:childTnLst>
                              <p:par>
                                <p:cTn id="13" dur="900" fill="hold" nodeType="afterEffect" grpId="0" presetID="22" presetClass="entr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200"/>
                            </p:stCondLst>
                            <p:childTnLst>
                              <p:par>
                                <p:cTn id="17" dur="700" fill="hold" nodeType="afterEffect" grpId="0" presetID="9" presetClass="entr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700"/>
                            </p:stCondLst>
                            <p:childTnLst>
                              <p:par>
                                <p:cTn id="21" dur="800" fill="hold" nodeType="afterEffect" grpId="0" presetID="9" presetClass="entr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13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int_istochni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922" y="388620"/>
            <a:ext cx="2662155" cy="4663440"/>
          </a:xfrm>
          <a:prstGeom prst="rect">
            <a:avLst/>
          </a:prstGeom>
          <a:ln w="38100">
            <a:solidFill>
              <a:srgbClr val="C9A227"/>
            </a:solidFill>
          </a:ln>
          <a:effectLst/>
        </p:spPr>
      </p:pic>
      <p:sp>
        <p:nvSpPr>
          <p:cNvPr id="4" name="Rectangle 3"/>
          <p:cNvSpPr/>
          <p:nvPr/>
        </p:nvSpPr>
        <p:spPr>
          <a:xfrm>
            <a:off x="0" y="5440680"/>
            <a:ext cx="12192000" cy="1417320"/>
          </a:xfrm>
          <a:prstGeom prst="rect">
            <a:avLst/>
          </a:prstGeom>
          <a:solidFill>
            <a:srgbClr val="050814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486400"/>
            <a:ext cx="11091672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«К источнику»</a:t>
            </a:r>
          </a:p>
          <a:p>
            <a:pPr algn="ctr">
              <a:spcBef>
                <a:spcPts val="300"/>
              </a:spcBef>
            </a:pPr>
            <a:r>
              <a:rPr sz="1300" b="0" i="0">
                <a:solidFill>
                  <a:srgbClr val="D8CEBE"/>
                </a:solidFill>
                <a:latin typeface="Calibri"/>
              </a:rPr>
              <a:t>холст, масло — Северо-Осетинский художественный музей</a:t>
            </a:r>
          </a:p>
          <a:p>
            <a:pPr algn="ctr">
              <a:spcBef>
                <a:spcPts val="300"/>
              </a:spcBef>
            </a:pPr>
            <a:r>
              <a:rPr sz="1300" b="0" i="0">
                <a:solidFill>
                  <a:srgbClr val="D8CEBE"/>
                </a:solidFill>
                <a:latin typeface="Calibri"/>
              </a:rPr>
              <a:t>Тяжёлый труд горской женщины — одна из главных тем кисти Коста.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720" y="640080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CFD8E3"/>
                </a:solidFill>
                <a:latin typeface="Calibri"/>
              </a:rPr>
              <a:t>07 / 15</a:t>
            </a:r>
          </a:p>
        </p:txBody>
      </p:sp>
    </p:spTree>
  </p:cSld>
  <p:clrMapOvr>
    <a:masterClrMapping/>
  </p:clrMapOvr>
  <p:transition spd="med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5" dur="300" fill="hold" nodeType="withEffect" grpId="0" presetID="9" presetClass="entr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0"/>
                            </p:stCondLst>
                            <p:childTnLst>
                              <p:par>
                                <p:cTn id="9" dur="1000" fill="hold" nodeType="afterEffect" grpId="0" presetID="22" presetClass="entr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800"/>
                            </p:stCondLst>
                            <p:childTnLst>
                              <p:par>
                                <p:cTn id="13" dur="500" fill="hold" nodeType="afterEffect" grpId="0" presetID="9" presetClass="entr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dur="700" fill="hold" nodeType="afterEffect" grpId="0" presetID="9" presetClass="entr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13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int_det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4801" y="388620"/>
            <a:ext cx="3342397" cy="4663440"/>
          </a:xfrm>
          <a:prstGeom prst="rect">
            <a:avLst/>
          </a:prstGeom>
          <a:ln w="38100">
            <a:solidFill>
              <a:srgbClr val="C9A227"/>
            </a:solidFill>
          </a:ln>
          <a:effectLst/>
        </p:spPr>
      </p:pic>
      <p:sp>
        <p:nvSpPr>
          <p:cNvPr id="4" name="Rectangle 3"/>
          <p:cNvSpPr/>
          <p:nvPr/>
        </p:nvSpPr>
        <p:spPr>
          <a:xfrm>
            <a:off x="0" y="5440680"/>
            <a:ext cx="12192000" cy="1417320"/>
          </a:xfrm>
          <a:prstGeom prst="rect">
            <a:avLst/>
          </a:prstGeom>
          <a:solidFill>
            <a:srgbClr val="050814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486400"/>
            <a:ext cx="11091672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«Дети-каменщики»</a:t>
            </a:r>
          </a:p>
          <a:p>
            <a:pPr algn="ctr">
              <a:spcBef>
                <a:spcPts val="300"/>
              </a:spcBef>
            </a:pPr>
            <a:r>
              <a:rPr sz="1300" b="0" i="0">
                <a:solidFill>
                  <a:srgbClr val="D8CEBE"/>
                </a:solidFill>
                <a:latin typeface="Calibri"/>
              </a:rPr>
              <a:t>1886–1891, холст, масло, 194×139 см</a:t>
            </a:r>
          </a:p>
          <a:p>
            <a:pPr algn="ctr">
              <a:spcBef>
                <a:spcPts val="300"/>
              </a:spcBef>
            </a:pPr>
            <a:r>
              <a:rPr sz="1300" b="0" i="0">
                <a:solidFill>
                  <a:srgbClr val="D8CEBE"/>
                </a:solidFill>
                <a:latin typeface="Calibri"/>
              </a:rPr>
              <a:t>Незавершённый шедевр о детском труде, написанный до первой ссылки.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720" y="640080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CFD8E3"/>
                </a:solidFill>
                <a:latin typeface="Calibri"/>
              </a:rPr>
              <a:t>08 / 15</a:t>
            </a:r>
          </a:p>
        </p:txBody>
      </p:sp>
    </p:spTree>
  </p:cSld>
  <p:clrMapOvr>
    <a:masterClrMapping/>
  </p:clrMapOvr>
  <p:transition spd="med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5" dur="300" fill="hold" nodeType="withEffect" grpId="0" presetID="9" presetClass="entr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0"/>
                            </p:stCondLst>
                            <p:childTnLst>
                              <p:par>
                                <p:cTn id="9" dur="1000" fill="hold" nodeType="afterEffect" grpId="0" presetID="22" presetClass="entr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800"/>
                            </p:stCondLst>
                            <p:childTnLst>
                              <p:par>
                                <p:cTn id="13" dur="500" fill="hold" nodeType="afterEffect" grpId="0" presetID="9" presetClass="entr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dur="700" fill="hold" nodeType="afterEffect" grpId="0" presetID="9" presetClass="entr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13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int_stolovay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615920"/>
            <a:ext cx="6857999" cy="4208839"/>
          </a:xfrm>
          <a:prstGeom prst="rect">
            <a:avLst/>
          </a:prstGeom>
          <a:ln w="38100">
            <a:solidFill>
              <a:srgbClr val="C9A227"/>
            </a:solidFill>
          </a:ln>
          <a:effectLst/>
        </p:spPr>
      </p:pic>
      <p:sp>
        <p:nvSpPr>
          <p:cNvPr id="4" name="Rectangle 3"/>
          <p:cNvSpPr/>
          <p:nvPr/>
        </p:nvSpPr>
        <p:spPr>
          <a:xfrm>
            <a:off x="0" y="5440680"/>
            <a:ext cx="12192000" cy="1417320"/>
          </a:xfrm>
          <a:prstGeom prst="rect">
            <a:avLst/>
          </a:prstGeom>
          <a:solidFill>
            <a:srgbClr val="050814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486400"/>
            <a:ext cx="11091672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«Столовая гора»</a:t>
            </a:r>
          </a:p>
          <a:p>
            <a:pPr algn="ctr">
              <a:spcBef>
                <a:spcPts val="300"/>
              </a:spcBef>
            </a:pPr>
            <a:r>
              <a:rPr sz="1300" b="0" i="0">
                <a:solidFill>
                  <a:srgbClr val="D8CEBE"/>
                </a:solidFill>
                <a:latin typeface="Calibri"/>
              </a:rPr>
              <a:t>пейзаж, холст, масло</a:t>
            </a:r>
          </a:p>
          <a:p>
            <a:pPr algn="ctr">
              <a:spcBef>
                <a:spcPts val="300"/>
              </a:spcBef>
            </a:pPr>
            <a:r>
              <a:rPr sz="1300" b="0" i="0">
                <a:solidFill>
                  <a:srgbClr val="D8CEBE"/>
                </a:solidFill>
                <a:latin typeface="Calibri"/>
              </a:rPr>
              <a:t>Горы вокруг Владикавказа — родной пейзаж поэта.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720" y="640080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CFD8E3"/>
                </a:solidFill>
                <a:latin typeface="Calibri"/>
              </a:rPr>
              <a:t>09 / 15</a:t>
            </a:r>
          </a:p>
        </p:txBody>
      </p:sp>
    </p:spTree>
  </p:cSld>
  <p:clrMapOvr>
    <a:masterClrMapping/>
  </p:clrMapOvr>
  <p:transition spd="med"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5" dur="300" fill="hold" nodeType="withEffect" grpId="0" presetID="9" presetClass="entr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0"/>
                            </p:stCondLst>
                            <p:childTnLst>
                              <p:par>
                                <p:cTn id="9" dur="1000" fill="hold" nodeType="afterEffect" grpId="0" presetID="22" presetClass="entr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800"/>
                            </p:stCondLst>
                            <p:childTnLst>
                              <p:par>
                                <p:cTn id="13" dur="500" fill="hold" nodeType="afterEffect" grpId="0" presetID="9" presetClass="entr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dur="700" fill="hold" nodeType="afterEffect" grpId="0" presetID="9" presetClass="entr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13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int_mo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6132" y="388620"/>
            <a:ext cx="2199735" cy="4663440"/>
          </a:xfrm>
          <a:prstGeom prst="rect">
            <a:avLst/>
          </a:prstGeom>
          <a:ln w="38100">
            <a:solidFill>
              <a:srgbClr val="C9A227"/>
            </a:solidFill>
          </a:ln>
          <a:effectLst/>
        </p:spPr>
      </p:pic>
      <p:sp>
        <p:nvSpPr>
          <p:cNvPr id="4" name="Rectangle 3"/>
          <p:cNvSpPr/>
          <p:nvPr/>
        </p:nvSpPr>
        <p:spPr>
          <a:xfrm>
            <a:off x="0" y="5440680"/>
            <a:ext cx="12192000" cy="1417320"/>
          </a:xfrm>
          <a:prstGeom prst="rect">
            <a:avLst/>
          </a:prstGeom>
          <a:solidFill>
            <a:srgbClr val="050814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486400"/>
            <a:ext cx="11091672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«Природный мост»</a:t>
            </a:r>
          </a:p>
          <a:p>
            <a:pPr algn="ctr">
              <a:spcBef>
                <a:spcPts val="300"/>
              </a:spcBef>
            </a:pPr>
            <a:r>
              <a:rPr sz="1300" b="0" i="0">
                <a:solidFill>
                  <a:srgbClr val="D8CEBE"/>
                </a:solidFill>
                <a:latin typeface="Calibri"/>
              </a:rPr>
              <a:t>пейзаж, холст, масло — музей им. М. С. Туганова</a:t>
            </a:r>
          </a:p>
          <a:p>
            <a:pPr algn="ctr">
              <a:spcBef>
                <a:spcPts val="300"/>
              </a:spcBef>
            </a:pPr>
            <a:r>
              <a:rPr sz="1300" b="0" i="0">
                <a:solidFill>
                  <a:srgbClr val="D8CEBE"/>
                </a:solidFill>
                <a:latin typeface="Calibri"/>
              </a:rPr>
              <a:t>Коста исходил ущелья Кавказа и запечатлел его чудеса.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720" y="640080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CFD8E3"/>
                </a:solidFill>
                <a:latin typeface="Calibri"/>
              </a:rPr>
              <a:t>10 / 15</a:t>
            </a:r>
          </a:p>
        </p:txBody>
      </p: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5" dur="300" fill="hold" nodeType="withEffect" grpId="0" presetID="9" presetClass="entr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0"/>
                            </p:stCondLst>
                            <p:childTnLst>
                              <p:par>
                                <p:cTn id="9" dur="1000" fill="hold" nodeType="afterEffect" grpId="0" presetID="22" presetClass="entr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800"/>
                            </p:stCondLst>
                            <p:childTnLst>
                              <p:par>
                                <p:cTn id="13" dur="500" fill="hold" nodeType="afterEffect" grpId="0" presetID="9" presetClass="entr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dur="700" fill="hold" nodeType="afterEffect" grpId="0" presetID="9" presetClass="entr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13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int_ang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6163" y="388620"/>
            <a:ext cx="2879674" cy="4663440"/>
          </a:xfrm>
          <a:prstGeom prst="rect">
            <a:avLst/>
          </a:prstGeom>
          <a:ln w="38100">
            <a:solidFill>
              <a:srgbClr val="C9A227"/>
            </a:solidFill>
          </a:ln>
          <a:effectLst/>
        </p:spPr>
      </p:pic>
      <p:sp>
        <p:nvSpPr>
          <p:cNvPr id="4" name="Rectangle 3"/>
          <p:cNvSpPr/>
          <p:nvPr/>
        </p:nvSpPr>
        <p:spPr>
          <a:xfrm>
            <a:off x="0" y="5440680"/>
            <a:ext cx="12192000" cy="1417320"/>
          </a:xfrm>
          <a:prstGeom prst="rect">
            <a:avLst/>
          </a:prstGeom>
          <a:solidFill>
            <a:srgbClr val="050814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486400"/>
            <a:ext cx="11091672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«Скорбящий ангел»</a:t>
            </a:r>
          </a:p>
          <a:p>
            <a:pPr algn="ctr">
              <a:spcBef>
                <a:spcPts val="300"/>
              </a:spcBef>
            </a:pPr>
            <a:r>
              <a:rPr sz="1300" b="0" i="0">
                <a:solidFill>
                  <a:srgbClr val="D8CEBE"/>
                </a:solidFill>
                <a:latin typeface="Calibri"/>
              </a:rPr>
              <a:t>холст, масло — церковная живопись Коста</a:t>
            </a:r>
          </a:p>
          <a:p>
            <a:pPr algn="ctr">
              <a:spcBef>
                <a:spcPts val="300"/>
              </a:spcBef>
            </a:pPr>
            <a:r>
              <a:rPr sz="1300" b="0" i="0">
                <a:solidFill>
                  <a:srgbClr val="D8CEBE"/>
                </a:solidFill>
                <a:latin typeface="Calibri"/>
              </a:rPr>
              <a:t>Он расписывал храмы и положил начало фресковой живописи Осетии.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720" y="640080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CFD8E3"/>
                </a:solidFill>
                <a:latin typeface="Calibri"/>
              </a:rPr>
              <a:t>11 / 15</a:t>
            </a:r>
          </a:p>
        </p:txBody>
      </p:sp>
    </p:spTree>
  </p:cSld>
  <p:clrMapOvr>
    <a:masterClrMapping/>
  </p:clrMapOvr>
  <p:transition spd="med">
    <p:cover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5" dur="300" fill="hold" nodeType="withEffect" grpId="0" presetID="9" presetClass="entr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0"/>
                            </p:stCondLst>
                            <p:childTnLst>
                              <p:par>
                                <p:cTn id="9" dur="1000" fill="hold" nodeType="afterEffect" grpId="0" presetID="22" presetClass="entr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800"/>
                            </p:stCondLst>
                            <p:childTnLst>
                              <p:par>
                                <p:cTn id="13" dur="500" fill="hold" nodeType="afterEffect" grpId="0" presetID="9" presetClass="entr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dur="700" fill="hold" nodeType="afterEffect" grpId="0" presetID="9" presetClass="entr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13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int_sel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174" y="388620"/>
            <a:ext cx="4603652" cy="4663440"/>
          </a:xfrm>
          <a:prstGeom prst="rect">
            <a:avLst/>
          </a:prstGeom>
          <a:ln w="38100">
            <a:solidFill>
              <a:srgbClr val="C9A227"/>
            </a:solidFill>
          </a:ln>
          <a:effectLst/>
        </p:spPr>
      </p:pic>
      <p:sp>
        <p:nvSpPr>
          <p:cNvPr id="4" name="Rectangle 3"/>
          <p:cNvSpPr/>
          <p:nvPr/>
        </p:nvSpPr>
        <p:spPr>
          <a:xfrm>
            <a:off x="0" y="5440680"/>
            <a:ext cx="12192000" cy="1417320"/>
          </a:xfrm>
          <a:prstGeom prst="rect">
            <a:avLst/>
          </a:prstGeom>
          <a:solidFill>
            <a:srgbClr val="050814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486400"/>
            <a:ext cx="11091672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Автопортрет</a:t>
            </a:r>
          </a:p>
          <a:p>
            <a:pPr algn="ctr">
              <a:spcBef>
                <a:spcPts val="300"/>
              </a:spcBef>
            </a:pPr>
            <a:r>
              <a:rPr sz="1300" b="0" i="0">
                <a:solidFill>
                  <a:srgbClr val="D8CEBE"/>
                </a:solidFill>
                <a:latin typeface="Calibri"/>
              </a:rPr>
              <a:t>холст, масло — Северо-Осетинский художественный музей</a:t>
            </a:r>
          </a:p>
          <a:p>
            <a:pPr algn="ctr">
              <a:spcBef>
                <a:spcPts val="300"/>
              </a:spcBef>
            </a:pPr>
            <a:r>
              <a:rPr sz="1300" b="0" i="0">
                <a:solidFill>
                  <a:srgbClr val="D8CEBE"/>
                </a:solidFill>
                <a:latin typeface="Calibri"/>
              </a:rPr>
              <a:t>Художник смотрит на нас через столетие.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720" y="640080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CFD8E3"/>
                </a:solidFill>
                <a:latin typeface="Calibri"/>
              </a:rPr>
              <a:t>12 / 15</a:t>
            </a:r>
          </a:p>
        </p:txBody>
      </p:sp>
    </p:spTree>
  </p:cSld>
  <p:clrMapOvr>
    <a:masterClrMapping/>
  </p:clrMapOvr>
  <p:transition spd="med">
    <p:comb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5" dur="300" fill="hold" nodeType="withEffect" grpId="0" presetID="9" presetClass="entr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0"/>
                            </p:stCondLst>
                            <p:childTnLst>
                              <p:par>
                                <p:cTn id="9" dur="1000" fill="hold" nodeType="afterEffect" grpId="0" presetID="22" presetClass="entr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800"/>
                            </p:stCondLst>
                            <p:childTnLst>
                              <p:par>
                                <p:cTn id="13" dur="500" fill="hold" nodeType="afterEffect" grpId="0" presetID="9" presetClass="entr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dur="700" fill="hold" nodeType="afterEffect" grpId="0" presetID="9" presetClass="entr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onument_bronz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3" name="Rectangle 2"/>
          <p:cNvSpPr/>
          <p:nvPr/>
        </p:nvSpPr>
        <p:spPr>
          <a:xfrm>
            <a:off x="0" y="5440680"/>
            <a:ext cx="12192000" cy="1417320"/>
          </a:xfrm>
          <a:prstGeom prst="rect">
            <a:avLst/>
          </a:prstGeom>
          <a:solidFill>
            <a:srgbClr val="050814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0"/>
            <a:ext cx="11091672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Владикавказ — памятник Коста</a:t>
            </a:r>
          </a:p>
          <a:p>
            <a:pPr algn="ctr">
              <a:spcBef>
                <a:spcPts val="300"/>
              </a:spcBef>
            </a:pPr>
            <a:r>
              <a:rPr sz="1300" b="0" i="0">
                <a:solidFill>
                  <a:srgbClr val="D8CEBE"/>
                </a:solidFill>
                <a:latin typeface="Calibri"/>
              </a:rPr>
              <a:t>Прах поэта народ перенёс сюда и схоронил на Осетинской горке.</a:t>
            </a:r>
          </a:p>
          <a:p>
            <a:pPr algn="ctr">
              <a:spcBef>
                <a:spcPts val="300"/>
              </a:spcBef>
            </a:pPr>
            <a:r>
              <a:rPr sz="1300" b="0" i="0">
                <a:solidFill>
                  <a:srgbClr val="D8CEBE"/>
                </a:solidFill>
                <a:latin typeface="Calibri"/>
              </a:rPr>
              <a:t>Именем Коста названы центральный парк, улицы и театр.</a:t>
            </a:r>
          </a:p>
        </p:txBody>
      </p:sp>
    </p:spTree>
  </p:cSld>
  <p:clrMapOvr>
    <a:masterClrMapping/>
  </p:clrMapOvr>
  <p:transition spd="med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5" dur="400" fill="hold" nodeType="withEffect" grpId="0" presetID="9" presetClass="entr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300"/>
                            </p:stCondLst>
                            <p:childTnLst>
                              <p:par>
                                <p:cTn id="9" dur="500" fill="hold" nodeType="afterEffect" grpId="0" presetID="9" presetClass="entr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dur="700" fill="hold" nodeType="afterEffect" grpId="0" presetID="2" presetClass="entr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urch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28650"/>
            <a:ext cx="12192000" cy="8115300"/>
          </a:xfrm>
          <a:prstGeom prst="rect">
            <a:avLst/>
          </a:prstGeom>
          <a:effectLst/>
        </p:spPr>
      </p:pic>
      <p:sp>
        <p:nvSpPr>
          <p:cNvPr id="3" name="Rectangle 2"/>
          <p:cNvSpPr/>
          <p:nvPr/>
        </p:nvSpPr>
        <p:spPr>
          <a:xfrm>
            <a:off x="0" y="5440680"/>
            <a:ext cx="12192000" cy="1417320"/>
          </a:xfrm>
          <a:prstGeom prst="rect">
            <a:avLst/>
          </a:prstGeom>
          <a:solidFill>
            <a:srgbClr val="050814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0"/>
            <a:ext cx="11091672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Осетинская горка — последний приют поэта</a:t>
            </a:r>
          </a:p>
          <a:p>
            <a:pPr algn="ctr">
              <a:spcBef>
                <a:spcPts val="300"/>
              </a:spcBef>
            </a:pPr>
            <a:r>
              <a:rPr sz="1300" b="0" i="0">
                <a:solidFill>
                  <a:srgbClr val="D8CEBE"/>
                </a:solidFill>
                <a:latin typeface="Calibri"/>
              </a:rPr>
              <a:t>Народ перенёс прах Коста с Кубани во Владикавказ и схоронил в ограде</a:t>
            </a:r>
          </a:p>
          <a:p>
            <a:pPr algn="ctr">
              <a:spcBef>
                <a:spcPts val="300"/>
              </a:spcBef>
            </a:pPr>
            <a:r>
              <a:rPr sz="1300" b="0" i="0">
                <a:solidFill>
                  <a:srgbClr val="D8CEBE"/>
                </a:solidFill>
                <a:latin typeface="Calibri"/>
              </a:rPr>
              <a:t>старейшего храма города — Осетинской церкви Рождества Богородицы.</a:t>
            </a:r>
          </a:p>
        </p:txBody>
      </p:sp>
    </p:spTree>
  </p:cSld>
  <p:clrMapOvr>
    <a:masterClrMapping/>
  </p:clrMapOvr>
  <p:transition spd="med">
    <p:comb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5" dur="400" fill="hold" nodeType="withEffect" grpId="0" presetID="9" presetClass="entr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300"/>
                            </p:stCondLst>
                            <p:childTnLst>
                              <p:par>
                                <p:cTn id="9" dur="500" fill="hold" nodeType="afterEffect" grpId="0" presetID="9" presetClass="entr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dur="700" fill="hold" nodeType="afterEffect" grpId="0" presetID="2" presetClass="entr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E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raw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2011680"/>
            <a:ext cx="3571997" cy="3108960"/>
          </a:xfrm>
          <a:prstGeom prst="rect">
            <a:avLst/>
          </a:prstGeom>
          <a:ln w="31750">
            <a:solidFill>
              <a:srgbClr val="A63A2B"/>
            </a:solidFill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5120640" y="2194560"/>
            <a:ext cx="62179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 i="0">
                <a:solidFill>
                  <a:srgbClr val="A63A2B"/>
                </a:solidFill>
                <a:latin typeface="Calibri"/>
              </a:rPr>
              <a:t>«Весь мир —</a:t>
            </a:r>
          </a:p>
          <a:p>
            <a:pPr algn="l"/>
            <a:r>
              <a:rPr sz="4400" b="1" i="0">
                <a:solidFill>
                  <a:srgbClr val="A63A2B"/>
                </a:solidFill>
                <a:latin typeface="Calibri"/>
              </a:rPr>
              <a:t>мой храм»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0" y="4114800"/>
            <a:ext cx="62179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23262B"/>
                </a:solidFill>
                <a:latin typeface="Calibri"/>
              </a:rPr>
              <a:t>Коста Хетагуров, 1859—1906</a:t>
            </a:r>
          </a:p>
          <a:p>
            <a:pPr algn="l">
              <a:spcBef>
                <a:spcPts val="1000"/>
              </a:spcBef>
            </a:pPr>
            <a:r>
              <a:rPr sz="1400" b="0" i="0">
                <a:solidFill>
                  <a:srgbClr val="8A8578"/>
                </a:solidFill>
                <a:latin typeface="Calibri"/>
              </a:rPr>
              <a:t>Он прожил 46 лет, но на века дал своему народу</a:t>
            </a:r>
          </a:p>
          <a:p>
            <a:pPr algn="l"/>
            <a:r>
              <a:rPr sz="1400" b="0" i="0">
                <a:solidFill>
                  <a:srgbClr val="8A8578"/>
                </a:solidFill>
                <a:latin typeface="Calibri"/>
              </a:rPr>
              <a:t>литературу, язык и голос.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5" dur="300" fill="hold" nodeType="withEffect" grpId="0" presetID="9" presetClass="entr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"/>
                            </p:stCondLst>
                            <p:childTnLst>
                              <p:par>
                                <p:cTn id="9" dur="800" fill="hold" nodeType="afterEffect" grpId="0" presetID="9" presetClass="entr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8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600"/>
                            </p:stCondLst>
                            <p:childTnLst>
                              <p:par>
                                <p:cTn id="13" dur="900" fill="hold" nodeType="afterEffect" grpId="0" presetID="22" presetClass="entr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400"/>
                            </p:stCondLst>
                            <p:childTnLst>
                              <p:par>
                                <p:cTn id="17" dur="700" fill="hold" nodeType="afterEffect" grpId="0" presetID="9" presetClass="entr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Коста Хетагуров — поэт и художник</dc:title>
  <dc:subject/>
  <dc:creator>Arena.ai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